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 ($M)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26.5</c:v>
                </c:pt>
                <c:pt idx="1">
                  <c:v>26.5</c:v>
                </c:pt>
                <c:pt idx="2">
                  <c:v>26.2</c:v>
                </c:pt>
                <c:pt idx="3">
                  <c:v>26.5</c:v>
                </c:pt>
                <c:pt idx="4">
                  <c:v>26.9</c:v>
                </c:pt>
                <c:pt idx="5">
                  <c:v>26.6</c:v>
                </c:pt>
                <c:pt idx="6">
                  <c:v>27.2</c:v>
                </c:pt>
                <c:pt idx="7">
                  <c:v>27.1</c:v>
                </c:pt>
                <c:pt idx="8">
                  <c:v>27.2</c:v>
                </c:pt>
                <c:pt idx="9">
                  <c:v>27.4</c:v>
                </c:pt>
                <c:pt idx="10">
                  <c:v>27.8</c:v>
                </c:pt>
                <c:pt idx="11">
                  <c:v>27.3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PSA ($M)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9.0</c:v>
                </c:pt>
                <c:pt idx="1">
                  <c:v>9.1</c:v>
                </c:pt>
                <c:pt idx="2">
                  <c:v>9.1</c:v>
                </c:pt>
                <c:pt idx="3">
                  <c:v>9.1</c:v>
                </c:pt>
                <c:pt idx="4">
                  <c:v>9.2</c:v>
                </c:pt>
                <c:pt idx="5">
                  <c:v>9.0</c:v>
                </c:pt>
                <c:pt idx="6">
                  <c:v>8.9</c:v>
                </c:pt>
                <c:pt idx="7">
                  <c:v>8.8</c:v>
                </c:pt>
                <c:pt idx="8">
                  <c:v>8.6</c:v>
                </c:pt>
                <c:pt idx="9">
                  <c:v>8.6</c:v>
                </c:pt>
                <c:pt idx="10">
                  <c:v>8.5</c:v>
                </c:pt>
                <c:pt idx="11">
                  <c:v>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Payments ($M)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2.0</c:v>
                </c:pt>
                <c:pt idx="1">
                  <c:v>2.1</c:v>
                </c:pt>
                <c:pt idx="2">
                  <c:v>2.2</c:v>
                </c:pt>
                <c:pt idx="3">
                  <c:v>2.0</c:v>
                </c:pt>
                <c:pt idx="4">
                  <c:v>2.1</c:v>
                </c:pt>
                <c:pt idx="5">
                  <c:v>2.0</c:v>
                </c:pt>
                <c:pt idx="6">
                  <c:v>1.6</c:v>
                </c:pt>
                <c:pt idx="7">
                  <c:v>2.0</c:v>
                </c:pt>
                <c:pt idx="8">
                  <c:v>1.9</c:v>
                </c:pt>
                <c:pt idx="9">
                  <c:v>2.0</c:v>
                </c:pt>
                <c:pt idx="10">
                  <c:v>2.6</c:v>
                </c:pt>
                <c:pt idx="11">
                  <c:v>1.9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0.383</c:v>
                </c:pt>
                <c:pt idx="1">
                  <c:v>0.377</c:v>
                </c:pt>
                <c:pt idx="2">
                  <c:v>0.389</c:v>
                </c:pt>
                <c:pt idx="3">
                  <c:v>0.396</c:v>
                </c:pt>
                <c:pt idx="4">
                  <c:v>0.411</c:v>
                </c:pt>
                <c:pt idx="5">
                  <c:v>0.38</c:v>
                </c:pt>
                <c:pt idx="6">
                  <c:v>0.376</c:v>
                </c:pt>
                <c:pt idx="7">
                  <c:v>0.358</c:v>
                </c:pt>
                <c:pt idx="8">
                  <c:v>0.374</c:v>
                </c:pt>
                <c:pt idx="9">
                  <c:v>0.359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Billing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0.591</c:v>
                </c:pt>
                <c:pt idx="1">
                  <c:v>0.572</c:v>
                </c:pt>
                <c:pt idx="2">
                  <c:v>0.603</c:v>
                </c:pt>
                <c:pt idx="3">
                  <c:v>0.59</c:v>
                </c:pt>
                <c:pt idx="4">
                  <c:v>0.613</c:v>
                </c:pt>
                <c:pt idx="5">
                  <c:v>0.49</c:v>
                </c:pt>
                <c:pt idx="6">
                  <c:v>0.502</c:v>
                </c:pt>
                <c:pt idx="7">
                  <c:v>0.484</c:v>
                </c:pt>
                <c:pt idx="8">
                  <c:v>0.484</c:v>
                </c:pt>
                <c:pt idx="9">
                  <c:v>0.481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PSA Total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0.216</c:v>
                </c:pt>
                <c:pt idx="1">
                  <c:v>0.221</c:v>
                </c:pt>
                <c:pt idx="2">
                  <c:v>0.227</c:v>
                </c:pt>
                <c:pt idx="3">
                  <c:v>0.249</c:v>
                </c:pt>
                <c:pt idx="4">
                  <c:v>0.261</c:v>
                </c:pt>
                <c:pt idx="5">
                  <c:v>0.263</c:v>
                </c:pt>
                <c:pt idx="6">
                  <c:v>0.253</c:v>
                </c:pt>
                <c:pt idx="7">
                  <c:v>0.252</c:v>
                </c:pt>
                <c:pt idx="8">
                  <c:v>0.277</c:v>
                </c:pt>
                <c:pt idx="9">
                  <c:v>0.273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PSA Web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0.049</c:v>
                </c:pt>
                <c:pt idx="1">
                  <c:v>0.07</c:v>
                </c:pt>
                <c:pt idx="2">
                  <c:v>0.089</c:v>
                </c:pt>
                <c:pt idx="3">
                  <c:v>0.128</c:v>
                </c:pt>
                <c:pt idx="4">
                  <c:v>0.154</c:v>
                </c:pt>
                <c:pt idx="5">
                  <c:v>0.18</c:v>
                </c:pt>
                <c:pt idx="6">
                  <c:v>0.187</c:v>
                </c:pt>
                <c:pt idx="7">
                  <c:v>0.201</c:v>
                </c:pt>
                <c:pt idx="8">
                  <c:v>0.236</c:v>
                </c:pt>
                <c:pt idx="9">
                  <c:v>0.253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Payments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0.72</c:v>
                </c:pt>
                <c:pt idx="1">
                  <c:v>0.738</c:v>
                </c:pt>
                <c:pt idx="2">
                  <c:v>0.758</c:v>
                </c:pt>
                <c:pt idx="3">
                  <c:v>0.674</c:v>
                </c:pt>
                <c:pt idx="4">
                  <c:v>0.641</c:v>
                </c:pt>
                <c:pt idx="5">
                  <c:v>0.722</c:v>
                </c:pt>
                <c:pt idx="6">
                  <c:v>0.744</c:v>
                </c:pt>
                <c:pt idx="7">
                  <c:v>0.639</c:v>
                </c:pt>
                <c:pt idx="8">
                  <c:v>0.68</c:v>
                </c:pt>
                <c:pt idx="9">
                  <c:v>0.557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LTV/CAC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Jul'25</c:v>
                </c:pt>
                <c:pt idx="1">
                  <c:v>Aug'25</c:v>
                </c:pt>
                <c:pt idx="2">
                  <c:v>Sep'25</c:v>
                </c:pt>
                <c:pt idx="3">
                  <c:v>Oct'25</c:v>
                </c:pt>
                <c:pt idx="4">
                  <c:v>Nov'25</c:v>
                </c:pt>
                <c:pt idx="5">
                  <c:v>Dec'25</c:v>
                </c:pt>
                <c:pt idx="6">
                  <c:v>Jan'26</c:v>
                </c:pt>
                <c:pt idx="7">
                  <c:v>Feb'26</c:v>
                </c:pt>
                <c:pt idx="8">
                  <c:v>Mar'26</c:v>
                </c:pt>
                <c:pt idx="9">
                  <c:v>Apr'26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3.303</c:v>
                </c:pt>
                <c:pt idx="1">
                  <c:v>3.25</c:v>
                </c:pt>
                <c:pt idx="2">
                  <c:v>3.351</c:v>
                </c:pt>
                <c:pt idx="3">
                  <c:v>3.416</c:v>
                </c:pt>
                <c:pt idx="4">
                  <c:v>3.54</c:v>
                </c:pt>
                <c:pt idx="5">
                  <c:v>3.271</c:v>
                </c:pt>
                <c:pt idx="6">
                  <c:v>2.938</c:v>
                </c:pt>
                <c:pt idx="7">
                  <c:v>2.402</c:v>
                </c:pt>
                <c:pt idx="8">
                  <c:v>3.094</c:v>
                </c:pt>
                <c:pt idx="9">
                  <c:v>2.778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399B5"/>
                </a:solidFill>
              </a:rPr>
              <a:t>REV.IO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Financial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ECCE0"/>
                </a:solidFill>
              </a:rPr>
              <a:t>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114800"/>
            <a:ext cx="2286000" cy="36576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ECCE0"/>
                </a:solidFill>
              </a:rPr>
              <a:t>Senior Leadership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 | Prepared by Finance | Close date: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 | Financial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3749039" cy="10515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868680"/>
            <a:ext cx="64008" cy="105156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$3.2M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Apr vs Budget: -$186K  |  YTD $12.8M (-$328K)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868680"/>
            <a:ext cx="3749039" cy="10515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64008" cy="10515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</a:rPr>
              <a:t>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A500"/>
                </a:solidFill>
              </a:rPr>
              <a:t>13.7%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Apr -$112K | YTD $2.6M (20.1%), +$326K ahead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868680"/>
            <a:ext cx="3749039" cy="10515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868680"/>
            <a:ext cx="64008" cy="1051560"/>
          </a:xfrm>
          <a:prstGeom prst="rect">
            <a:avLst/>
          </a:prstGeom>
          <a:solidFill>
            <a:srgbClr val="A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ECCE0"/>
                </a:solidFill>
              </a:rPr>
              <a:t>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ECCE0"/>
                </a:solidFill>
              </a:rPr>
              <a:t>$3.4M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7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▼ $347K MoM | ▼ $841K vs budget — lower collections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029968"/>
            <a:ext cx="2560320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18653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99B5"/>
                </a:solidFill>
              </a:rPr>
              <a:t>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121408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CCE0"/>
                </a:solidFill>
              </a:rPr>
              <a:t>▸  Revenue $3.2M — $186K below budget; PSA, Billing (Spectrum VOIP credit), and Payments all short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2871216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CCE0"/>
                </a:solidFill>
              </a:rPr>
              <a:t>▸  EBITDA $437K (13.7%) — $112K below budget; YTD $2.6M (20.1%), +$326K ahead of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3621024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CCE0"/>
                </a:solidFill>
              </a:rPr>
              <a:t>▸  Spend $74K favorable — people savings offset Hosting, R&amp;D contractors, and tradeshow overruns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370832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CCE0"/>
                </a:solidFill>
              </a:rPr>
              <a:t>▸  Cash $3.4M (-$347K MoM) — lower collections; AR $1.2M, no credit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512064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CCE0"/>
                </a:solidFill>
              </a:rPr>
              <a:t>▸  May preliminary: MRR ex-Payments ~$3.03M (+$46K MoM); Billing +$26K, PSA Web +$18K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P&amp;L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 | Actuals vs. Budget vs.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868680"/>
            <a:ext cx="1458883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960" y="906780"/>
            <a:ext cx="1357283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596043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6843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Apr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6534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334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Apr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7025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7825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7516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8316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8007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8807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YTD 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8498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9298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YTD Budget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8989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9789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8686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0280" y="906780"/>
            <a:ext cx="708890" cy="612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531620"/>
            <a:ext cx="1458883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960" y="155702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6043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6843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$3,191K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6534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7334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$3,377K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17025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7825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-$186K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7516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78316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38007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8807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$12,829K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48498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9298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$13,157K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8989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9789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-$328K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153162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0280" y="15570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194560"/>
            <a:ext cx="1458883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7960" y="221996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Cost of Revenue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96043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6843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$906K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06534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7334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$981K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17025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7825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-$75K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7516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78316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38007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88807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$3,584K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48498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9298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$3,777K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58989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09789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-$193K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219456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20280" y="22199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57500"/>
            <a:ext cx="1458883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7960" y="288290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96043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46843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$2,285K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06534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57334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$2,395K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17025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67825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-$110K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27516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78316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38007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88807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$9,245K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48498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99298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$9,380K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58989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09789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-$135K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9480" y="285750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20280" y="288290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3520440"/>
            <a:ext cx="1458883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960" y="354584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Gross Margin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96043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46843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71.6%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06534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57334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70.9%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17025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67825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+0.7 pts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27516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78316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38007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88807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72.1%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48498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99298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71.3%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58989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09789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+0.8 pts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69480" y="352044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20280" y="354584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4183380"/>
            <a:ext cx="1458883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7960" y="420878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Operating Exp.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96043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46843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$1,848K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06534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57334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$1,847K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17025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67825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+$1K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27516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078316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838007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88807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$6,671K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48498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99298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$7,132K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58989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09789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-$461K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69480" y="418338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20280" y="420878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-6%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37160" y="4846320"/>
            <a:ext cx="1458883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7960" y="487172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EBITDA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596043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646843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$437K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406534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57334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$548K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17025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67825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-$112K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27516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078316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-20%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38007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88807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$2,574K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48498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99298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$2,248K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58989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509789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+$326K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269480" y="4846320"/>
            <a:ext cx="810490" cy="6629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20280" y="487172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+14%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7160" y="5509260"/>
            <a:ext cx="1458883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87960" y="5534660"/>
            <a:ext cx="1357283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EBITDA Margin 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596043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646843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13.7%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406534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457334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16.2%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17025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67825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-2.6 pts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027516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078316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38007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88807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20.1%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48498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699298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17.1%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458989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09789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+3.0 pts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269480" y="5509260"/>
            <a:ext cx="810490" cy="6629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20280" y="5534660"/>
            <a:ext cx="708890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406640" y="868680"/>
            <a:ext cx="46634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406640" y="868680"/>
            <a:ext cx="64008" cy="1005840"/>
          </a:xfrm>
          <a:prstGeom prst="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516368" y="91948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4040"/>
                </a:solidFill>
              </a:rPr>
              <a:t>COST WATCH ITEMS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516368" y="1069848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Hosting: Vervint over budget — re-forecast/audit usage
R&amp;D Contractors: Softserve $42K — resolve before May close
Marketing tradeshows: +$58K over April budget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406640" y="1965960"/>
            <a:ext cx="46634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406640" y="1965960"/>
            <a:ext cx="64008" cy="1005840"/>
          </a:xfrm>
          <a:prstGeom prst="rect">
            <a:avLst/>
          </a:prstGeom>
          <a:solidFill>
            <a:srgbClr val="6E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16368" y="201676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BE4F"/>
                </a:solidFill>
              </a:rPr>
              <a:t>EBITDA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516368" y="2167128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YTD EBITDA is outpacing budget due to people cost savings.
Revenue miss primary driver — spend $74K favorable.
Watch: Hosting, Softserve, tradeshows.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406640" y="3063240"/>
            <a:ext cx="46634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406640" y="3063240"/>
            <a:ext cx="64008" cy="100584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516368" y="311404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399B5"/>
                </a:solidFill>
              </a:rPr>
              <a:t>REVENUE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516368" y="3264408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Miss of $186K — PSA Legacy: churn/credits/seat reductions;
PSA Web: new sales behind &amp; cancellations (May up $18K);
Billing: Spectrum VOIP credit; Payments: prior-mo adj rolloff.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406640" y="4160520"/>
            <a:ext cx="46634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406640" y="4160520"/>
            <a:ext cx="64008" cy="1005840"/>
          </a:xfrm>
          <a:prstGeom prst="rect">
            <a:avLst/>
          </a:prstGeom>
          <a:solidFill>
            <a:srgbClr val="A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516368" y="421132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ECCE0"/>
                </a:solidFill>
              </a:rPr>
              <a:t>CASH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516368" y="4361688"/>
            <a:ext cx="4526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$3.4M at April 30 (-$347K MoM). Lower collections;
AR $1.2M. No credit issues flagged.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Bookings &amp; Revenue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 | Actuals by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41248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Bookings (MRR, $K) — April vs. Budget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41276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680" y="1117092"/>
            <a:ext cx="2311169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5649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6449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Actual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6076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876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6503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7303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6930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730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7358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8158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Actual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7785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8585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38212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89012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978640" y="10789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29440" y="1117092"/>
            <a:ext cx="1238827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399032"/>
            <a:ext cx="241276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680" y="142443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5649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6449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$5.3K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6076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6876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$10.3K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76503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7303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-$5.0K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6930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730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-49%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7358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8158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$29.6K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97785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8585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$30.8K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38212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9012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-$1.2K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978640" y="139903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29440" y="14244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1719072"/>
            <a:ext cx="2412769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680" y="174447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Billing Add-on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95649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46449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$1.6K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6076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86876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76503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27303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16930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730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7358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8158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$6.0K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7785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585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38212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89012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978640" y="171907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29440" y="17444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2039112"/>
            <a:ext cx="241276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3680" y="206451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PSA Web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95649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46449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$11.1K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6076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86876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$30.0K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76503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27303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-$18.9K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16930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67730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-63%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7358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08158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$42.8K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97785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48585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$93.0K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38212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89012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-$50.2K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978640" y="203911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029440" y="206451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-54%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2359152"/>
            <a:ext cx="2412769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3680" y="238455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Payments 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95649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46449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$2.0K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6076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86876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$3.0K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76503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27303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-$1.0K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16930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67730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-33%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57358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08158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$8.5K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97785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48585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$11.8K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38212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89012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-$3.3K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978640" y="235915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029440" y="238455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-28%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2880" y="2679192"/>
            <a:ext cx="241276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33680" y="270459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Payments AP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95649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646449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36076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86876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$7.5K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276503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27303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-$7.5K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16930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67730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-100%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957358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08158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297785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48585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$26.5K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38212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689012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-$26.5K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978640" y="267919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029440" y="270459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-100%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2880" y="2999232"/>
            <a:ext cx="2412769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3680" y="302463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Cyber Protect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95649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46449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36076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86876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$4.5K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276503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327303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-$4.5K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6930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67730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-100%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957358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08158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$0.6K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297785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48585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$8.3K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38212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89012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-$7.7K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978640" y="2999232"/>
            <a:ext cx="1340427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029440" y="302463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-93%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2880" y="3319272"/>
            <a:ext cx="241276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33680" y="3344672"/>
            <a:ext cx="231116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Total Bookings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95649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46449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$20.1K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936076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86876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$60.1K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503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27303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-$40.0K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16930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67730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-67%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7358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08158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$87.5K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297785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48585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$176.2K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38212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689012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-$88.7K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978640" y="3319272"/>
            <a:ext cx="1340427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029440" y="3344672"/>
            <a:ext cx="1238827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-50%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" y="369417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Revenue by Product ($K) — April vs. Budget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2880" y="3931920"/>
            <a:ext cx="2412769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3680" y="3970020"/>
            <a:ext cx="2311169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595649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646449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Actual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936076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86876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Budget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276503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327303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616930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667730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7358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008158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Actual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297785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348585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Budget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638212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689012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978640" y="3931920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2029440" y="3970020"/>
            <a:ext cx="1238827" cy="2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82880" y="4278085"/>
            <a:ext cx="2412769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33680" y="4303485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595649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646449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$2,279K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936076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986876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$2,311K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276503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327303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-$32K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616930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667730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-1%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957358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008158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$9,125K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297785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348585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$9,167K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638212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689012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-$43K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978640" y="4278085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2029440" y="4303485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0%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82880" y="4624251"/>
            <a:ext cx="2412769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33680" y="4649651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PSA (Legacy + Web)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595649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46449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$695K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36076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86876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$833K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276503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327303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-$137K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616930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667730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-16%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957358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008158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$2,844K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297785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348585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$3,172K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638212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689012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-$328K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1978640" y="4624251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2029440" y="4649651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-10%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82880" y="4970417"/>
            <a:ext cx="2412769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33680" y="4995817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Resale (CommerceHub)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2595649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646449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$18K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36076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986876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$10K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276503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327303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+$8K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616930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667730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+73%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957358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008158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$53K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297785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348585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$15K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0638212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689012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+$38K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978640" y="4970417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2029440" y="4995817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+242%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82880" y="5316582"/>
            <a:ext cx="2412769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33680" y="5341982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Setup Fees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95649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646449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$22K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936076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986876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276503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327303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+$14K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616930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667730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+187%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957358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008158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$52K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7785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348585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$30K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38212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689012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+$21K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1978640" y="5316582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2029440" y="5341982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+71%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82880" y="5662748"/>
            <a:ext cx="2412769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33680" y="5688148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Payments (Net)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595649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646449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$159K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3936076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986876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$196K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276503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327303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-$36K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616930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667730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-19%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957358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008158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$701K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297785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9348585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$694K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638212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689012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+$7K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1978640" y="5662748"/>
            <a:ext cx="1340427" cy="346165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2029440" y="5688148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+1%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82880" y="6008914"/>
            <a:ext cx="2412769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233680" y="6034314"/>
            <a:ext cx="2311169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595649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646449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$3,191K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3936076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3986876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$3,377K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5276503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327303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-$186K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616930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667730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-5%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957358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8008158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$12,829K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9297785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348585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$13,157K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0638212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0689012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-$328K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1978640" y="6008914"/>
            <a:ext cx="1340427" cy="346165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12029440" y="6034314"/>
            <a:ext cx="1238827" cy="30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-2%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Recurring Revenue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ARR by Product — Trailing 12 Months | May 2025 – Apr 2026  |  Total ARR: $37.5M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" y="86868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223760" y="868680"/>
            <a:ext cx="14630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868680"/>
            <a:ext cx="64008" cy="1005840"/>
          </a:xfrm>
          <a:prstGeom prst="rect">
            <a:avLst/>
          </a:prstGeom>
          <a:solidFill>
            <a:srgbClr val="6E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9448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BE4F"/>
                </a:solidFill>
              </a:rPr>
              <a:t>Billing ARR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0972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EBE4F"/>
                </a:solidFill>
              </a:rPr>
              <a:t>$27.3M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6002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-$0.5M vs Mar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868680"/>
            <a:ext cx="14630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868680"/>
            <a:ext cx="64008" cy="1005840"/>
          </a:xfrm>
          <a:prstGeom prst="rect">
            <a:avLst/>
          </a:prstGeom>
          <a:solidFill>
            <a:srgbClr val="A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9448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ECCE0"/>
                </a:solidFill>
              </a:rPr>
              <a:t>PSA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0972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ECCE0"/>
                </a:solidFill>
              </a:rPr>
              <a:t>$8.3M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60020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-$0.2M vs 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868680"/>
            <a:ext cx="1691640" cy="10058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20" y="868680"/>
            <a:ext cx="64008" cy="100584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2448" y="9448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Payments ARR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2448" y="1097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$1.9M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2448" y="16002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Net annualized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965960"/>
            <a:ext cx="2295625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4560" y="2004060"/>
            <a:ext cx="2194025" cy="27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19385" y="1965960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0185" y="2004060"/>
            <a:ext cx="1173747" cy="27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ARR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94732" y="1965960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45532" y="2004060"/>
            <a:ext cx="1173747" cy="27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GRR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70080" y="1965960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20880" y="2004060"/>
            <a:ext cx="1173747" cy="27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NRR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2295144"/>
            <a:ext cx="2295625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4560" y="2320544"/>
            <a:ext cx="2194025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Billing (incl. Odin)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9385" y="2295144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70185" y="2320544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$27.3M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94732" y="2295144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45532" y="2320544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91.5%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70080" y="2295144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20880" y="2320544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100.5%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2624328"/>
            <a:ext cx="2295625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4560" y="2649728"/>
            <a:ext cx="2194025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PSA (Legacy + Web)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19385" y="2624328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70185" y="2649728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$8.3M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94732" y="2624328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45532" y="2649728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79.4%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070080" y="2624328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20880" y="2649728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85.8%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2953512"/>
            <a:ext cx="2295625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2978912"/>
            <a:ext cx="2194025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9385" y="2953512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0185" y="2978912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$1.9M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94732" y="2953512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45532" y="2978912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64.7%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070080" y="2953512"/>
            <a:ext cx="1275347" cy="32918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20880" y="2978912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75.3%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3282696"/>
            <a:ext cx="2295625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4560" y="3308096"/>
            <a:ext cx="2194025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19385" y="3282696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70185" y="3308096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$37.5M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4732" y="3282696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45532" y="3308096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87.1%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070080" y="3282696"/>
            <a:ext cx="1275347" cy="32918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120880" y="3308096"/>
            <a:ext cx="1173747" cy="29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95.5%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" y="4233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BE4F"/>
                </a:solidFill>
              </a:rPr>
              <a:t>ARR TRENDS — TTM (4-Year View)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" y="448056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Billing: Only ARR-positive. GRR 91%+ (best-in-class), NRR &gt;100%. New ARR halved YoY — sales pipeline problem.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" y="489204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PSA: ARR declining faster each year — driver is downsell (nearly 3× in 3 years), not churn.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" y="530352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PSA GRR sliding below 80% vs Billing 91%+. At current rates, PSA contracts regardless of new sales.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" y="571500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NRR compression entirely PSA-driven. Billing &gt;100% all 4 years. PSA mid-80s and declining.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" y="612648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Payments GRR/NRR (64.7%/75.3%) reflect volume/rate volatility, not customer loss.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KPIs /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8686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868680"/>
            <a:ext cx="64008" cy="256032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Gross Revenue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399B5"/>
                </a:solidFill>
              </a:rPr>
              <a:t>87.1%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TTM | Goal: 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8686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868680"/>
            <a:ext cx="64008" cy="2560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7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</a:rPr>
              <a:t>Net Revenue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A500"/>
                </a:solidFill>
              </a:rPr>
              <a:t>95.5%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7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TTM | Goal: 105%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18" y="8686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18" y="868680"/>
            <a:ext cx="64008" cy="256032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6" y="9448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EBITDA Margin (YTD)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6" y="10972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399B5"/>
                </a:solidFill>
              </a:rPr>
              <a:t>20.1%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6" y="16002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YTD Jan–Apr (Apr: 13.7%) | Goal: 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36118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" y="3611880"/>
            <a:ext cx="64008" cy="2560320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" y="36880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Rule of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" y="38404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21.0%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" y="43434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TTM est. | Goal: 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6118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3611880"/>
            <a:ext cx="64008" cy="2560320"/>
          </a:xfrm>
          <a:prstGeom prst="rect">
            <a:avLst/>
          </a:prstGeom>
          <a:solidFill>
            <a:srgbClr val="6E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7" y="36880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BE4F"/>
                </a:solidFill>
              </a:rPr>
              <a:t>CAC 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7" y="38404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0.36x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7" y="43434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TTM Total | Goal: 1.0x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18" y="3611880"/>
            <a:ext cx="3749039" cy="256032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18" y="3611880"/>
            <a:ext cx="64008" cy="2560320"/>
          </a:xfrm>
          <a:prstGeom prst="rect">
            <a:avLst/>
          </a:prstGeom>
          <a:solidFill>
            <a:srgbClr val="A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6" y="3688080"/>
            <a:ext cx="3611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ECCE0"/>
                </a:solidFill>
              </a:rPr>
              <a:t>LTV / 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6" y="3840480"/>
            <a:ext cx="3611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2.77x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6" y="434340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TTM Total | Goal: 3.0x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CAC &amp; LTV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 | Trailing 10 Months (Jul 2025 – Apr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" y="868680"/>
          <a:ext cx="73152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3794760"/>
          <a:ext cx="73152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868680"/>
            <a:ext cx="288036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40320" y="906780"/>
            <a:ext cx="2778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69880" y="8686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20680" y="906780"/>
            <a:ext cx="1498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CAC 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0" y="8686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20880" y="906780"/>
            <a:ext cx="1498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Payback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73480"/>
            <a:ext cx="288036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0320" y="1198880"/>
            <a:ext cx="277876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1734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20680" y="11988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0.48x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0" y="11734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20880" y="11988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25.0 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478280"/>
            <a:ext cx="288036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0320" y="1503680"/>
            <a:ext cx="277876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PSA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1478280"/>
            <a:ext cx="160020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20680" y="15036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0.27x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70080" y="1478280"/>
            <a:ext cx="160020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20880" y="15036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4040"/>
                </a:solidFill>
              </a:rPr>
              <a:t>44.0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783080"/>
            <a:ext cx="288036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0320" y="1808480"/>
            <a:ext cx="277876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↳ PSA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7830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20680" y="18084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A500"/>
                </a:solidFill>
              </a:rPr>
              <a:t>0.25x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70080" y="17830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20880" y="18084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A500"/>
                </a:solidFill>
              </a:rPr>
              <a:t>47.4 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087880"/>
            <a:ext cx="288036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0320" y="2113280"/>
            <a:ext cx="277876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0" y="2087880"/>
            <a:ext cx="160020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20680" y="21132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0.56x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70080" y="2087880"/>
            <a:ext cx="1600200" cy="30480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20880" y="21132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21.5 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2392680"/>
            <a:ext cx="288036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40320" y="2418080"/>
            <a:ext cx="277876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23926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20680" y="24180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BE4F"/>
                </a:solidFill>
              </a:rPr>
              <a:t>0.36x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70080" y="2392680"/>
            <a:ext cx="1600200" cy="30480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20880" y="2418080"/>
            <a:ext cx="1498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33.4 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2788920"/>
            <a:ext cx="2148840" cy="8229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2788920"/>
            <a:ext cx="64008" cy="822960"/>
          </a:xfrm>
          <a:prstGeom prst="rect">
            <a:avLst/>
          </a:prstGeom>
          <a:solidFill>
            <a:srgbClr val="6EB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2865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BE4F"/>
                </a:solidFill>
              </a:rPr>
              <a:t>CAC RATIO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30175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EBE4F"/>
                </a:solidFill>
              </a:rPr>
              <a:t>0.36x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35204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vs ~1x industry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29800" y="2788920"/>
            <a:ext cx="2194560" cy="8229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29800" y="2788920"/>
            <a:ext cx="64008" cy="822960"/>
          </a:xfrm>
          <a:prstGeom prst="rect">
            <a:avLst/>
          </a:prstGeom>
          <a:solidFill>
            <a:srgbClr val="A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39528" y="28651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ECCE0"/>
                </a:solidFill>
              </a:rPr>
              <a:t>LTV / CAC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9528" y="30175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AECCE0"/>
                </a:solidFill>
              </a:rPr>
              <a:t>2.78x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39528" y="352044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CCE0"/>
                </a:solidFill>
              </a:rPr>
              <a:t>↓ from 3.54x (Nov)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3703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Overall efficiency strong — 0.36x well below ~1x median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2976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Billing drives the story — payback ~25 months, strong unit economics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48920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PSA Web improving rapidly — payback 247 mo → 47 mo (Jul'25→Apr'26)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486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PSA Total CAC (0.27x) misleading — minimal spend on declining product; 44-month payback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60807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LTV/CAC declined 3.54x → 2.78x since Nov '25 — PSA-driven compression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CAC Detail — TTM Bookings &amp; S&amp;M Allocation  [SUPPLEMENTAL]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Source: 2. 3-Statement '26 rows 229–278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868680"/>
            <a:ext cx="1996439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240" y="906780"/>
            <a:ext cx="1894839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7879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8680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Jul'25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7013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7813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Aug'25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146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946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Sep'25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5280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6080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Oct'25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4413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5213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Nov'25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3546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4346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Dec'25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2680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3480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Jan'26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51813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613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Feb'26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60946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1746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Mar'26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70080" y="8686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20880" y="906780"/>
            <a:ext cx="1007533" cy="27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Apr'26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1196340"/>
            <a:ext cx="1996439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240" y="1221740"/>
            <a:ext cx="1894839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87879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8680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$1,253K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7013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7813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$1,161K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06146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6946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$1,199K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5280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66080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$1,206K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4413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5213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$1,258K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3546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4346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$1,042K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42680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3480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$1,099K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1813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2613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$1,084K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60946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11746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$1,089K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070080" y="119634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20880" y="122174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$1,092K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" y="1524000"/>
            <a:ext cx="1996439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2240" y="1549400"/>
            <a:ext cx="1894839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PSA Legacy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87879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8680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$701K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97013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7813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$658K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06146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56946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$615K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15280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6080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$525K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4413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75213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$464K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3546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4346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$368K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42680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93480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$307K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51813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02613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$245K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60946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11746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$195K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70080" y="152400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120880" y="154940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$99K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" y="1851660"/>
            <a:ext cx="1996439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2240" y="1877060"/>
            <a:ext cx="1894839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PSA Web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87879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38680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$204K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97013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7813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$301K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06146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56946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$398K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15280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66080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$556K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24413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75213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$673K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33546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84346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$804K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742680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93480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$861K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51813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02613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$954K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0946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1746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$1,137K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2070080" y="185166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20880" y="187706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BE4F"/>
                </a:solidFill>
              </a:rPr>
              <a:t>$1,271K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" y="2179320"/>
            <a:ext cx="1996439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2240" y="2204720"/>
            <a:ext cx="1894839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87879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8680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$522K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97013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47813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$538K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06146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56946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$565K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15280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66080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$558K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24413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75213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$561K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33546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84346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$566K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42680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793480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$506K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51813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02613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$445K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960946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011746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$458K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070080" y="2179320"/>
            <a:ext cx="1109133" cy="32766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2120880" y="220472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$385K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440" y="2506980"/>
            <a:ext cx="1996439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42240" y="2532380"/>
            <a:ext cx="1894839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87879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8680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$2,728K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97013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47813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$2,706K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06146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356946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$2,825K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15280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66080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$2,893K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524413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575213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$3,067K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633546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684346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$2,846K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742680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793480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$2,878K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851813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902613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$2,795K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960946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011746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$2,943K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070080" y="2506980"/>
            <a:ext cx="1109133" cy="32766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120880" y="2532380"/>
            <a:ext cx="1007533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$2,910K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" y="29077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CAC Ratio by Product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1440" y="3127248"/>
            <a:ext cx="199643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2240" y="3165348"/>
            <a:ext cx="1894839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399B5"/>
                </a:solidFill>
              </a:rPr>
              <a:t>Product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087879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8680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Jul'25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97013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47813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Aug'25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306146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56946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Sep'25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415280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66080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Oct'25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24413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575213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Nov'25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33546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684346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Dec'25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742680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93480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Jan'26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851813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902613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Feb'26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960946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11746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Mar'26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2070080" y="31272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120880" y="3165348"/>
            <a:ext cx="1007533" cy="2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399B5"/>
                </a:solidFill>
              </a:rPr>
              <a:t>Apr'26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440" y="3447288"/>
            <a:ext cx="199643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42240" y="3472688"/>
            <a:ext cx="189483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087879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138680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0.38x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197013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47813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0.38x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306146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356946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0.39x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15280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466080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0.40x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524413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575213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0.41x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633546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684346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0.38x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42680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793480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0.38x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851813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902613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0.36x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60946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011746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0.37x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2070080" y="344728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120880" y="347268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0.36x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1440" y="3767328"/>
            <a:ext cx="1996439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2240" y="3792728"/>
            <a:ext cx="189483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087879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138680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0.59x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197013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247813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0.57x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306146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356946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0.60x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415280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466080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0.59x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524413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575213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0.61x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33546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84346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0.49x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742680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793480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0.50x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9851813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902613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0.48x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0960946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1011746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0.48x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2070080" y="376732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2120880" y="379272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0.48x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1440" y="4087368"/>
            <a:ext cx="199643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2240" y="4112768"/>
            <a:ext cx="189483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PSA Total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087879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138680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0.22x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197013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247813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0.22x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306146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356946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0.23x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15280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66080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0.25x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24413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575213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0.26x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633546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684346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0.26x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742680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793480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0.25x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851813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902613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0.25x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960946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1011746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0.28x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2070080" y="408736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2120880" y="411276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0.27x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1440" y="4407408"/>
            <a:ext cx="1996439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42240" y="4432808"/>
            <a:ext cx="189483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PSA Web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087879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138680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0.05x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197013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247813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0.07x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306146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356946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0.09x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415280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466080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0.13x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524413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575213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0.15x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633546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84346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0.18x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742680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793480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0.19x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9851813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902613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0.20x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960946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011746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0.24x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2070080" y="4407408"/>
            <a:ext cx="1109133" cy="320040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2120880" y="443280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A500"/>
                </a:solidFill>
              </a:rPr>
              <a:t>0.25x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1440" y="4727448"/>
            <a:ext cx="1996439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42240" y="4752848"/>
            <a:ext cx="1894839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087879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2138680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0.72x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197013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247813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0.74x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4306146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356946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0.76x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5415280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466080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0.67x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6524413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575213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0.64x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7633546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7684346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0.72x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742680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793480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0.74x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9851813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902613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0.64x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0960946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1011746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0.68x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2070080" y="4727448"/>
            <a:ext cx="1109133" cy="3200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2120880" y="4752848"/>
            <a:ext cx="1007533" cy="28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0.56x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1440" y="5102352"/>
            <a:ext cx="1197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PSA Web bookings grew 6× in 10 months ($204K→$1.27M), now largest new-ARR product.  Billing bookings declining ($1.25M→$1.09M).  PSA Legacy collapsed ($701K→$99K).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Payments Revenue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November 2025 – April 2026 | Paya/Nuvei &amp; TRX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503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99B5"/>
                </a:solidFill>
              </a:rPr>
              <a:t>Paya / Nuvei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680" y="1117092"/>
            <a:ext cx="3020807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5287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6087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Nov '25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57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757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Dec '25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74628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5428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Jan '26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9298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0098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Feb '26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3969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94769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Mar '26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978640" y="107899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29440" y="111709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Apr '26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405563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680" y="1430963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5287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6087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$23.7M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9957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0757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$28.1M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74628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5428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$22.9M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9298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60098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$24.0M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3969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94769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$29.1M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978640" y="140556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29440" y="143096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$23.6M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1732134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3680" y="1757534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Rev Share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5287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6087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$100.4K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39957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0757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$124.4K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74628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5428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$117.7K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9298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0098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$106.7K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3969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94769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$144.1K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978640" y="173213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29440" y="175753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$103.9K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2058706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680" y="2084106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05287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6087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9957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90757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74628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25428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0.52%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9298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0098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43969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94769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978640" y="205870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029440" y="208410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2385277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3680" y="2410677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Volume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05287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56087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$18.2M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39957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90757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$22.0M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74628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25428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$20.8M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9298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60098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$18.5M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3969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94769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$22.6M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978640" y="238527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029440" y="241067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$20.7M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2711849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3680" y="2737249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Rev Share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05287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56087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$14.3K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39957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90757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$15.6K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74628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25428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$15.3K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9298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60098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$14.7K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243969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94769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$16.1K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978640" y="271184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029440" y="273724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$15.2K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3038420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3680" y="3063820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Rate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05287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56087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0.08%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39957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90757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74628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25428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09298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60098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0.08%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243969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94769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0.07%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978640" y="303842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029440" y="306382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" y="3429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BE4F"/>
                </a:solidFill>
              </a:rPr>
              <a:t>TRX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3639312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3680" y="3677412"/>
            <a:ext cx="3020807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99B5"/>
                </a:solidFill>
              </a:rPr>
              <a:t>Metric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05287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56087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Nov '25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39957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90757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Dec '25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74628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25428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Jan '26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09298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60098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Feb '26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3969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94769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Mar '26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978640" y="3639312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029440" y="3677412"/>
            <a:ext cx="1633070" cy="2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99B5"/>
                </a:solidFill>
              </a:rPr>
              <a:t>Apr '26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" y="3965883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3680" y="3991283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Volume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05287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56087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$4.4M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39957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90757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$6.0M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74628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25428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$7.2M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09298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60098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$6.9M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243969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294769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$6.9M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978640" y="3965883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2029440" y="3991283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$7.9M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82880" y="4292454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33680" y="4317854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Rev Share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05287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356087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$13.5K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39957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90757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$19.5K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774628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825428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$26.6K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509298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60098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$21.1K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243969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294769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$21.9K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1978640" y="4292454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2029440" y="4317854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$25.4K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82880" y="4619026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33680" y="4644426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 Rate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305287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356087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0.31%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039957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90757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0.32%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774628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825428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0.37%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509298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560098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0.29%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243969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294769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0.32%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1978640" y="4619026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029440" y="4644426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0.32%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82880" y="4945597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33680" y="4970997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Volume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05287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356087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$1.6M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39957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090757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$2.5M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774628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825428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$4.0M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509298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60098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$4.6M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243969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294769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$9.8M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978640" y="4945597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029440" y="4970997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$6.1M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82880" y="5272169"/>
            <a:ext cx="3122407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33680" y="5297569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Rev Share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305287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356087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$6.5K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039957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090757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$8.2K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774628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825428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$15.1K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09298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560098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$15.7K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243969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294769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$32.7K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978640" y="5272169"/>
            <a:ext cx="1734670" cy="326571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2029440" y="5297569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$16.7K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82880" y="5598740"/>
            <a:ext cx="3122407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33680" y="5624140"/>
            <a:ext cx="3020807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ACH Rate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305287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356087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0.42%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039957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090757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0.33%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774628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25428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0.38%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509298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560098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0.34%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243969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294769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0.33%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1978640" y="5598740"/>
            <a:ext cx="1734670" cy="326571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029440" y="5624140"/>
            <a:ext cx="1633070" cy="288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0.27%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82880" y="5989320"/>
            <a:ext cx="1179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ECCE0"/>
                </a:solidFill>
              </a:rPr>
              <a:t>Source: Investor Summary KPIs tab, Monthly Financial Package Apr-26. Total Apr net rev share = $161.3K (Paya CC $103.9K + Paya ACH $15.2K + TRX CC $25.4K + TRX ACH $16.7K)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Expense Summary  [SUPPLEMENTAL]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035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CCE0"/>
                </a:solidFill>
              </a:rPr>
              <a:t>April 2026 | Actuals vs. Budget by Cost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"/>
          </a:xfrm>
          <a:prstGeom prst="rect">
            <a:avLst/>
          </a:prstGeom>
          <a:solidFill>
            <a:srgbClr val="239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868680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960" y="906780"/>
            <a:ext cx="2311169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99B5"/>
                </a:solidFill>
              </a:rPr>
              <a:t>Cost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9929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0729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0356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1156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Apr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783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1583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71210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2010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1638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2438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2065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2865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YTD Budget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92492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43292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32920" y="86868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83720" y="906780"/>
            <a:ext cx="1238827" cy="37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99B5"/>
                </a:solidFill>
              </a:rPr>
              <a:t>Var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297744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960" y="1323144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Infrastructure &amp;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49929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0729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$480K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90356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41156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$451K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0783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1583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+$29K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71210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2010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+6.4%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11638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2438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$1,871K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52065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2865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$1,720K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92492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43292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+$151K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32920" y="1297744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83720" y="1323144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+8.8%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1726809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7960" y="1752209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Client Success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49929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0729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$166K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90356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41156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$202K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30783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1583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-$36K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71210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2010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-17.8%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11638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62438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$658K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52065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2865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$761K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92492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3292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-$103K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932920" y="1726809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983720" y="1752209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-13.5%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155873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7960" y="2181273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49929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0729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$243K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90356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41156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$289K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30783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1583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-$46K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71210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2010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-15.9%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11638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62438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$992K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52065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02865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$1,138K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92492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43292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-$146K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932920" y="215587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983720" y="218127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-12.8%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2584938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960" y="2610338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Direct Sales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49929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00729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$270K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90356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41156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$319K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30783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81583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-$49K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71210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22010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-15.4%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11638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62438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$1,073K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52065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02865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$1,168K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92492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43292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-$95K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932920" y="2584938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983720" y="2610338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-8.1%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3014003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7960" y="3039403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49929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00729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$84K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90356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41156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$57K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30783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81583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+$27K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71210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22010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+47.4%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11638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62438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$244K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52065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02865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$220K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592492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643292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+$24K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932920" y="3014003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983720" y="3039403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+10.9%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37160" y="3443067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7960" y="3468467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49929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00729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$306K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90356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941156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$248K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230783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81583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+$58K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571210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22010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+23.4%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11638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962438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$766K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252065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02865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$833K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592492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643292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-$67K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932920" y="3443067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983720" y="3468467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-8.0%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37160" y="3872132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87960" y="3897532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Product Management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549929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600729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$198K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890356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941156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$214K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230783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281583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-$16K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571210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622010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-7.5%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911638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962438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$766K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52065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302865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$847K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592492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643292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-$81K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932920" y="3872132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83720" y="3897532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-9.6%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7160" y="4301196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87960" y="4326596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549929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600729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$93K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890356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941156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$141K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230783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281583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-$48K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571210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622010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-34.0%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11638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962438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$338K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252065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302865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$563K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592492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643292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-$225K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932920" y="430119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1983720" y="432659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-40.0%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37160" y="4730261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87960" y="4755661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549929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600729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$509K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890356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941156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$536K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230783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281583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-$27K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71210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622010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-5.0%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911638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962438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$2,127K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252065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302865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$2,151K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0592492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643292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-$24K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1932920" y="4730261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1983720" y="4755661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-1.1%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37160" y="5159326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87960" y="5184726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549929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600729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$41K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890356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941156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$41K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230783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281583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571210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622010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911638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962438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$150K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252065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302865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$208K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0592492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643292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-$58K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1932920" y="5159326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1983720" y="5184726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-27.9%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37160" y="5588390"/>
            <a:ext cx="2412769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87960" y="5613790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&amp; G&amp;A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549929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600729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$362K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890356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941156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$326K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230783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281583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+$36K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571210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622010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4040"/>
                </a:solidFill>
              </a:rPr>
              <a:t>+11.0%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911638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962438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$1,271K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252065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302865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$1,300K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0592492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643292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-$29K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11932920" y="5588390"/>
            <a:ext cx="1340427" cy="429064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1983720" y="5613790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-2.2%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37160" y="6017455"/>
            <a:ext cx="2412769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87960" y="6042855"/>
            <a:ext cx="2311169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Total COGS + OpEx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2549929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600729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$2,754K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890356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941156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$2,831K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5230783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281583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-$77K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71210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622010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-2.7%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911638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962438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$10,256K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9252065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9302865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$10,909K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0592492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643292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-$653K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1932920" y="6017455"/>
            <a:ext cx="1340427" cy="429064"/>
          </a:xfrm>
          <a:prstGeom prst="rect">
            <a:avLst/>
          </a:prstGeom>
          <a:solidFill>
            <a:srgbClr val="16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1983720" y="6042855"/>
            <a:ext cx="1238827" cy="39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BE4F"/>
                </a:solidFill>
              </a:rPr>
              <a:t>-6.0%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0" y="6656832"/>
            <a:ext cx="12191695" cy="27432"/>
          </a:xfrm>
          <a:prstGeom prst="rect">
            <a:avLst/>
          </a:prstGeom>
          <a:solidFill>
            <a:srgbClr val="1D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8288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ECCE0"/>
                </a:solidFill>
              </a:rPr>
              <a:t>Rev.io | Financial Results | April 2026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0058400" y="66842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ECCE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